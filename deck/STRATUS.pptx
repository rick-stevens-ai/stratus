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3C3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STRATUS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658368" y="3291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hierarchical memory for scientific agents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3977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components · self-hosted · built to scale from one agent to thousands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493776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937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· open stack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memory store shaped like memory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need more than a chat log. STRATUS layers memory into four strata — from raw observation to long-lived persona — so recall returns the right grain of context for the question.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788920"/>
            <a:ext cx="128016" cy="265176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2953512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· Stream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50976" y="3520440"/>
            <a:ext cx="204825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conversation and observation log. Every turn, every event.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9856" y="278892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9856" y="2788920"/>
            <a:ext cx="128016" cy="265176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730752" y="2953512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Atoms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730752" y="3520440"/>
            <a:ext cx="204825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atomic memories — facts, preferences, rules.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99632" y="278892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2788920"/>
            <a:ext cx="128016" cy="265176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2953512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Scenes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10528" y="3520440"/>
            <a:ext cx="204825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episodic blocks summarizing what happened.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79408" y="2788920"/>
            <a:ext cx="2615184" cy="265176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79408" y="2788920"/>
            <a:ext cx="128016" cy="265176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19" name="Text 17"/>
          <p:cNvSpPr/>
          <p:nvPr/>
        </p:nvSpPr>
        <p:spPr>
          <a:xfrm>
            <a:off x="9290304" y="2953512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Core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290304" y="3520440"/>
            <a:ext cx="204825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persona and project core. The durable self.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tiers, one open backing store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108960" cy="841248"/>
          </a:xfrm>
          <a:prstGeom prst="roundRect">
            <a:avLst>
              <a:gd name="adj" fmla="val 10870"/>
            </a:avLst>
          </a:prstGeom>
          <a:solidFill>
            <a:srgbClr val="13294B"/>
          </a:solidFill>
          <a:ln w="25400">
            <a:solidFill>
              <a:srgbClr val="33C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33C3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2871216"/>
            <a:ext cx="0" cy="219456"/>
          </a:xfrm>
          <a:prstGeom prst="line">
            <a:avLst/>
          </a:prstGeom>
          <a:noFill/>
          <a:ln w="38100">
            <a:solidFill>
              <a:srgbClr val="33C3F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3108960"/>
            <a:ext cx="3108960" cy="841248"/>
          </a:xfrm>
          <a:prstGeom prst="roundRect">
            <a:avLst>
              <a:gd name="adj" fmla="val 10870"/>
            </a:avLst>
          </a:prstGeom>
          <a:solidFill>
            <a:srgbClr val="13294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10896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611880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86000" y="3968496"/>
            <a:ext cx="0" cy="219456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1520" y="4206240"/>
            <a:ext cx="3108960" cy="841248"/>
          </a:xfrm>
          <a:prstGeom prst="roundRect">
            <a:avLst>
              <a:gd name="adj" fmla="val 10870"/>
            </a:avLst>
          </a:prstGeom>
          <a:solidFill>
            <a:srgbClr val="13294B"/>
          </a:solidFill>
          <a:ln w="25400">
            <a:solidFill>
              <a:srgbClr val="3BA7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0624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3BA77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709160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286000" y="5065776"/>
            <a:ext cx="0" cy="219456"/>
          </a:xfrm>
          <a:prstGeom prst="line">
            <a:avLst/>
          </a:prstGeom>
          <a:noFill/>
          <a:ln w="38100">
            <a:solidFill>
              <a:srgbClr val="3BA77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" y="5303520"/>
            <a:ext cx="3108960" cy="841248"/>
          </a:xfrm>
          <a:prstGeom prst="roundRect">
            <a:avLst>
              <a:gd name="adj" fmla="val 10870"/>
            </a:avLst>
          </a:prstGeom>
          <a:solidFill>
            <a:srgbClr val="13294B"/>
          </a:solidFill>
          <a:ln w="25400">
            <a:solidFill>
              <a:srgbClr val="F2B1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30352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F2B13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03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5806440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5216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BACKING STORE (all open)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52160" y="2240280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13294B"/>
          </a:solidFill>
          <a:ln w="12700">
            <a:solidFill>
              <a:srgbClr val="33C3F0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52160" y="2240280"/>
            <a:ext cx="128016" cy="86868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26" name="Text 24"/>
          <p:cNvSpPr/>
          <p:nvPr/>
        </p:nvSpPr>
        <p:spPr>
          <a:xfrm>
            <a:off x="6163056" y="24048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sqlite-vec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163056" y="2971800"/>
            <a:ext cx="4919472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 recall — cosine similarity over per-tier vectors.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52160" y="3246120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13294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52160" y="3246120"/>
            <a:ext cx="128016" cy="86868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163056" y="34107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FTS5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163056" y="3977640"/>
            <a:ext cx="4919472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recall — BM25 full-text over the same content.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52160" y="4251960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13294B"/>
          </a:solidFill>
          <a:ln w="12700">
            <a:solidFill>
              <a:srgbClr val="F2B134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52160" y="4251960"/>
            <a:ext cx="128016" cy="86868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34" name="Text 32"/>
          <p:cNvSpPr/>
          <p:nvPr/>
        </p:nvSpPr>
        <p:spPr>
          <a:xfrm>
            <a:off x="6163056" y="44165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filesystem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6163056" y="4983480"/>
            <a:ext cx="4919472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(T2) and core (T3) blobs, beside the database.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52160" y="5257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database. No managed service. Runs fully offline.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 + lexical, fused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runs against both indexes; results merge by reciprocal-rank fusion. Semantic matches and exact-term matches each get their say — neither dominates.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4202E"/>
          </a:solidFill>
          <a:ln w="25400">
            <a:solidFill>
              <a:srgbClr val="5565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163824"/>
            <a:ext cx="20665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0" y="251460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 w="25400">
            <a:solidFill>
              <a:srgbClr val="33C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50208" y="2569464"/>
            <a:ext cx="252374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(sqlite-vec)</a:t>
            </a:r>
            <a:endParaRPr lang="en-US" sz="16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0" y="370332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13294B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0208" y="3758184"/>
            <a:ext cx="2523744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(FTS5)</a:t>
            </a:r>
            <a:endParaRPr lang="en-US" sz="16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89520" y="3108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2B134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9248" y="3163824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0" y="31089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3BA776"/>
          </a:solidFill>
          <a:ln w="25400">
            <a:solidFill>
              <a:srgbClr val="3BA7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68128" y="3163824"/>
            <a:ext cx="13350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16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63240" y="3566160"/>
            <a:ext cx="731520" cy="0"/>
          </a:xfrm>
          <a:prstGeom prst="line">
            <a:avLst/>
          </a:prstGeom>
          <a:noFill/>
          <a:ln w="38100">
            <a:solidFill>
              <a:srgbClr val="5565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29400" y="2944368"/>
            <a:ext cx="914400" cy="0"/>
          </a:xfrm>
          <a:prstGeom prst="line">
            <a:avLst/>
          </a:prstGeom>
          <a:noFill/>
          <a:ln w="38100">
            <a:solidFill>
              <a:srgbClr val="33C3F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29400" y="4133088"/>
            <a:ext cx="9144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38360" y="3566160"/>
            <a:ext cx="274320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process, one box, 1–50 agents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`stratus serve` embeds an entire store in a single Node process over one SQLite database. Install, smoke-test, and a live gateway in under a minute — the right shape for a workstation or a single VM.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834640"/>
            <a:ext cx="128016" cy="210312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29992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50976" y="3566160"/>
            <a:ext cx="29992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./install.sh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checks Node ≥ 20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builds + smoke-tests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links the CLI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2834640"/>
            <a:ext cx="35661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834640"/>
            <a:ext cx="128016" cy="210312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54296" y="29992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54296" y="3566160"/>
            <a:ext cx="29992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stratus serve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stratus health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stratus smoke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by default.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283464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2834640"/>
            <a:ext cx="128016" cy="210312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299923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57616" y="3566160"/>
            <a:ext cx="295351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/stream/add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/atoms/upsert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/*/search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/core/read|write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it take to run thousands of agents?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point: 1,000–10,000 agents, ~20% active at once.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33C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agents (20% of 10k)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0" y="265176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3BA7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~2k/s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365760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writes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65176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~600/s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658368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recalls (embed+search)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26880" y="265176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10s of M</a:t>
            </a:r>
            <a:endParaRPr lang="en-US" sz="6200" dirty="0"/>
          </a:p>
        </p:txBody>
      </p:sp>
      <p:sp>
        <p:nvSpPr>
          <p:cNvPr id="12" name="Text 10"/>
          <p:cNvSpPr/>
          <p:nvPr/>
        </p:nvSpPr>
        <p:spPr>
          <a:xfrm>
            <a:off x="932688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in aggregate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 dominate the plan: embedding throughput, and vector-search QPS × index size.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moves, all on the open stack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128016" cy="214884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19933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Store pool + sharding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50976" y="2560320"/>
            <a:ext cx="48280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SQLite DB per agent, lazily opened and LRU-evicted. Agents map to shards by hash(agent_id). Removes write contention entirely.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99632" y="18288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828800"/>
            <a:ext cx="128016" cy="214884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19933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Stateless gateway fleet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10528" y="2560320"/>
            <a:ext cx="48280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replicas behind a consistent-hash router, shared-nothing — each owns a disjoint slice of agents. The biggest unlock, no shared hot-path state.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160520"/>
            <a:ext cx="128016" cy="214884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43251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Dedicated embedding tier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50976" y="4892040"/>
            <a:ext cx="48280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GPU embedding service (vLLM/Ollama, open model) off the request path. Decouples embed throughput from gateway count.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99632" y="416052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4160520"/>
            <a:ext cx="128016" cy="214884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43251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Async pipeline workers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10528" y="4892040"/>
            <a:ext cx="48280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T0→T1→T2 distillation runs on a worker pool off the hot path, reusing the lab's shared open-model LLM tier.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phases, each independently shippable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33C3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68880" y="199339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pool + sharding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0" y="199339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100s of agents on one node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889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68880" y="277063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fleet + router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315200" y="27706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1,000s across a few nodes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66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68880" y="354787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embedding tier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0" y="354787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removes write-path bottleneck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434340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3BA77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43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68880" y="432511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pipeline workers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315200" y="432511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memory quality without blocking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1520" y="512064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120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68880" y="510235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+ aggregation + federation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315200" y="51023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largest agents, multi-collection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· TIER A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— up to ~250 agents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node. One workstation or one cloud VM.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478024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33C3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780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08960" y="24231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0" y="242316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event loop + SQLite + FTS across active stores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3639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33C3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363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308152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GB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0" y="3081528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store pool (LRU) + FTS/vec page cache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33C3F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373989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 NVMe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3739896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SQLite + vectors; NVMe for random I/O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453128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33C3F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531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08960" y="439826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24 GB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0" y="4398264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embedding model (A10 / L4 / 3090 class)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5111496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33C3F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1114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08960" y="505663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GbE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0" y="5056632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not a constraint at this size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· TIER B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— ~1,000–2,500 agents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Shared-nothing shards; turn the embedding-GPU knob first when p99 climbs.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478024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780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08960" y="24231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nodes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0" y="242316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16-core / 64 GB / 2 TB NVMe each, agent→node by hash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3639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363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308152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small node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0" y="3081528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consistent-hash routing (or HW load balancer)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GPU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373989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× 40–48 GB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3739896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A100-40 / L40S — ~600–1,500 embeds/sec batched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453128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531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08960" y="439826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8–16 CPU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0" y="4398264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distillation; LLM calls go to shared tier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5111496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1114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08960" y="505663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TB NVMe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0" y="5056632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DBs + blobs, 3-copy durability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· TIER C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Lab-wide — ~10,000 agents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constraint is embedding-GPU throughput, then aggregate NVMe IOPS.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478024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780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08960" y="24231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10–16 nodes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0" y="242316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32-core / 128 GB / 4 TB NVMe — wider shard fan-out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3639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363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308152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pair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0" y="3081528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hashing, no single point of failure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GPU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373989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× 80 GB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3739896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A100-80 / H100 / MI300 — 10k+ embeds/sec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453128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531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08960" y="439826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40–80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0" y="4398264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distillation backlog near zero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5111496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1114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08960" y="505663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40–80 TB NVMe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0" y="5056632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millions of vectors + blobs, ≥3× replicated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RULES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GPU first, fast disk second, CPU last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128016" cy="1554480"/>
          </a:xfrm>
          <a:prstGeom prst="roundRect">
            <a:avLst>
              <a:gd name="adj" fmla="val 35714"/>
            </a:avLst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0848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GPUs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50976" y="2651760"/>
            <a:ext cx="48280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ceil(peak_embeds/sec ÷ per-GPU batched throughput). One 40–80 GB GPU ≈ 1–3k embeds/sec. Size with ≥25% headroom.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99632" y="192024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920240"/>
            <a:ext cx="128016" cy="1554480"/>
          </a:xfrm>
          <a:prstGeom prst="roundRect">
            <a:avLst>
              <a:gd name="adj" fmla="val 35714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20848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nodes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10528" y="2651760"/>
            <a:ext cx="48280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ceil(N_agents ÷ agents_per_node), where agents_per_node ≈ 250–700 by activity and RAM for the hot pool.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657600"/>
            <a:ext cx="128016" cy="1554480"/>
          </a:xfrm>
          <a:prstGeom prst="roundRect">
            <a:avLst>
              <a:gd name="adj" fmla="val 35714"/>
            </a:avLst>
          </a:prstGeom>
          <a:solidFill>
            <a:srgbClr val="33C3F0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38221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storage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50976" y="4389120"/>
            <a:ext cx="48280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N_agents × per_agent_bytes × replication. Always NVMe — SQLite + vector queries are random-I/O bound.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99632" y="365760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63500" dist="25400" dir="5400000">
              <a:srgbClr val="9FB0C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3657600"/>
            <a:ext cx="128016" cy="1554480"/>
          </a:xfrm>
          <a:prstGeom prst="roundRect">
            <a:avLst>
              <a:gd name="adj" fmla="val 35714"/>
            </a:avLst>
          </a:prstGeom>
          <a:solidFill>
            <a:srgbClr val="3BA776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38221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10528" y="4389120"/>
            <a:ext cx="48280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working-set stores × per-store page cache. Cold agents cost only disk, not memory.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3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explicitly do not need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17627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BA77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21408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21031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vector database — sqlite-vec + optional faiss/hnsw covers it.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309067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BA77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35808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30175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managed cloud queue, cache, or warehouse — a plain work queue + per-agent SQLite fan-out suffices.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400507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BA77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50208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9319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distillation cluster — reuse the lab's shared open-model inference tier.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491947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3BA77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64608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8463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mutable cross-node state on the hot path — sharding by agent keeps the fleet shared-nothing.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424160" y="6355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3C3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agent to thousands — four moves, one open stack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36576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pool + sharding · stateless gateway fleet · batched embedding tier · async pipeline workers.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embedding GPUs and fast NVMe — gateway CPU is the cheap part. Three-copy durability throughout.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58368" y="5212080"/>
            <a:ext cx="4937760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5212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STRATUS · open · self-hosted · Apache-2.0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2026-06-22T22:29:01Z</dcterms:created>
  <dcterms:modified xsi:type="dcterms:W3CDTF">2026-06-22T22:29:01Z</dcterms:modified>
</cp:coreProperties>
</file>